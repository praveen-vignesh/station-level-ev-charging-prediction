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16" r:id="rId15"/>
    <p:sldId id="517" r:id="rId16"/>
    <p:sldId id="518" r:id="rId17"/>
    <p:sldId id="519" r:id="rId18"/>
    <p:sldId id="520" r:id="rId19"/>
    <p:sldId id="521" r:id="rId20"/>
    <p:sldId id="526" r:id="rId25"/>
    <p:sldId id="522" r:id="rId21"/>
    <p:sldId id="527" r:id="rId26"/>
    <p:sldId id="528" r:id="rId27"/>
    <p:sldId id="523" r:id="rId22"/>
    <p:sldId id="524" r:id="rId23"/>
    <p:sldId id="52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9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8.xml"/><Relationship Id="rId26" Type="http://schemas.openxmlformats.org/officeDocument/2006/relationships/slide" Target="slides/slide10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IT5305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PRAVEEN VIGNESH (210425205091)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FARHAN SOHAIL (210425205059)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Station-Level EV Charging Demand Forecasting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D. Nithya Baskaran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Information Technology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 next-hour, site-level EV charging demand (kWh/h) for the Caltech workplace charging site from 6,490 real ACN-Data sessions. Six backward-looking features feed a chronologically evaluated Random Forest, benchmarked against a same-hour-last-week baseline and served through a local web dashboard.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time-series forecasting, Random Forest, lag features, ACN-Data, demand forecasting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6,490 sessions, 53 stations, Apr–Aug 2018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2,555 hourly rows; 6 backward-only features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80:20 split, never shuffled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leakage test blocks future peeking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Headline Result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(same hour last week): MAE 8.86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(tuned, final): MAE 4.41 (-50.2%)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Regression: MAE 4.92 (-44.5%)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decision-support prototype, not a controller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charging clusters at workplaces, where many vehicles plug in during the same few hours. Operators must know demand one hour ahead to stagger charging and manage grid capacity. A single station sits idle most hours, but a whole site shows a clear, repeating daily and weekly rhythm.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per-station series is ≈79% zero-demand hours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Site-level demand repeats daily and weekly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Caltech ACN-Data gives open session records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commercial meter data is required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 Question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backward-only features beat the naive "same hour last week" rule?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strictly chronologically — the model never sees the future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Answered on 478 held-out hours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strands of prior work shape the method: an open charging dataset, a seasonal-naive benchmark, linear and tree-based regression, and the right error metric for a series that is often zero.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Baseline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ACN-Data (Lee, Li &amp; Low, e-Energy ’19) — open sessions + REST API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Seasonal-naive forecast (t−168h) — the weekly benchmark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on lag features — simplest learned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&amp; Metric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(Breiman, 2001) — best performer here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preferred over MAPE for a zero/near-zero series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pandas, matplotlib — the stack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 Question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"Can a model forecast next-hour, site-level EV demand more accurately than the same-hour-last-week rule, using only backward-looking features and a strictly chronological evaluation?"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&amp; Validate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sessions via a retry-safe REST downloader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to station- and site-level hourly demand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6 backward-only features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no leakage with an automated test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&amp; Deliver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chronologically; tune Random Forest by time-series CV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vs. Linear Regression and the naive baseline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with MAE and RMSE on held-out hours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predictions through a local JSON dashboard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– S/W and H/W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Footprint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pipeline — download, reshaping, tuning and training on 2,387 hourly rows — runs on a standard laptop in minutes, with no GPU, no notebooks and no paid services.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laptop (Windows 11 used)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GPU required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pipeline completes in minutes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3.x; pandas, NumPy, scikit-learn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requests, joblib, matplotlib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dashboard; VS Code; GitHub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Quo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learned forecaster is in use today. The practical rule of thumb is simply to repeat what happened at the same hour last week — easy to compute, but blind to the last few hours of real demand.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Rule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demand 168h earlier (last week)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training, no features, no model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8.86, RMSE 12.67 kWh/h on test hours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Falls Short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the last 1–2 hours of real demand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adapt to an unusual day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≈79% station zero-demand hours defeat a per-station version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one-way layers — ingestion, transformation, modelling, presentation — each validated before the next: the energy check confirms 58,785 kWh in equals kWh out.</a:t>
            </a:r>
          </a:p>
        </p:txBody>
      </p:sp>
      <p:pic>
        <p:nvPicPr>
          <p:cNvPr id="12" name="Picture 11" descr="fig_4_1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410" y="1141984"/>
            <a:ext cx="5817180" cy="385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scripts run in a strict ingest → transform → model → serve order, and share one feature builder (common.py). One script per stage keeps each step easy to test on its own.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9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&amp; Features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1_fetch_raw.py / 2_build_sessions.py — retry-safe download + cleaning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3_build_hourly.py — zero-filled hourly tables + energy check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common.py — shared backward-only feature builder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 &amp; Serving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4_train_model.py — baseline, Linear Regression, tuned Random Forest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5_dashboard_server.py — localhost:8000, /api/data JSON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test_no_leakage.py, make_figures.py — leakage test &amp; figures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 – Metrics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10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metrics on 478 held-out, chronologically latest hours (20 Jul–9 Aug 2018). The cross-validated Random Forest is kept as the final model.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28320" y="1769389"/>
          <a:ext cx="10135359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144"/>
                <a:gridCol w="1723011"/>
                <a:gridCol w="1723011"/>
                <a:gridCol w="2635193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109728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MAE (kWh/h)</a:t>
                      </a:r>
                    </a:p>
                  </a:txBody>
                  <a:tcPr marL="109728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RMSE (kWh/h)</a:t>
                      </a:r>
                    </a:p>
                  </a:txBody>
                  <a:tcPr marL="109728" marR="91440" marT="45720" marB="4572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Improvement vs Baseline</a:t>
                      </a:r>
                    </a:p>
                  </a:txBody>
                  <a:tcPr marL="109728" marR="91440" marT="45720" marB="45720" anchor="ctr">
                    <a:solidFill>
                      <a:srgbClr val="1F386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Baseline (same hour last week)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8.86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12.67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— reference rule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Linear Regression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4.92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6.63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44.5%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Random Forest (fixed parameters)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4.34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5.91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</a:rPr>
                        <a:t>51.0%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Times New Roman"/>
                        </a:rPr>
                        <a:t>Random Forest (tuned, final)</a:t>
                      </a:r>
                    </a:p>
                  </a:txBody>
                  <a:tcPr marL="109728" marR="91440" marT="45720" marB="45720" anchor="ctr"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Times New Roman"/>
                        </a:rPr>
                        <a:t>4.41</a:t>
                      </a:r>
                    </a:p>
                  </a:txBody>
                  <a:tcPr marL="109728" marR="91440" marT="45720" marB="45720" anchor="ctr"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Times New Roman"/>
                        </a:rPr>
                        <a:t>5.97</a:t>
                      </a:r>
                    </a:p>
                  </a:txBody>
                  <a:tcPr marL="109728" marR="91440" marT="45720" marB="45720" anchor="ctr"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Times New Roman"/>
                        </a:rPr>
                        <a:t>50.2%</a:t>
                      </a:r>
                    </a:p>
                  </a:txBody>
                  <a:tcPr marL="109728" marR="91440" marT="45720" marB="45720" anchor="ctr"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 – Charts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11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tracks the daily cycle closely but under-predicts the sharpest peaks (avg. 5.5 kWh/h low over the busiest 10% of hours). Top features: lag_1h 0.79, lag_168h 0.08, hour_of_day 0.07.</a:t>
            </a:r>
          </a:p>
        </p:txBody>
      </p:sp>
      <p:pic>
        <p:nvPicPr>
          <p:cNvPr id="12" name="Picture 11" descr="fig_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481" y="1141984"/>
            <a:ext cx="6335038" cy="385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is accurate and honest about its limits. These extensions target stronger models, cleaner input data, longer horizons and a real deployment beyond a local server.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Gradient Boosting with a wider tuning search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demand from metered power, not reconstructed sessions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more than one hour ahead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whether model differences are statistically meaningful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&amp; Deployment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per-station models beyond the busiest five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weather, holidays and a longer, multi-site history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dashboard as a hosted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pipeline forecasts next-hour, site-level EV charging demand from 6,490 real sessions. The tuned Random Forest reaches MAE 4.41 kWh/h — 50.2% better than the same-hour-last-week baseline — and is served through a local dashboard.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6,490 sessions → 2,555 hourly rows, energy-conserving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MAE 4.41 (-50.2% vs baseline)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test proves features look only backward</a:t>
            </a:r>
          </a:p>
          <a:p>
            <a:pPr lvl="0">
              <a:lnSpc>
                <a:spcPct val="106000"/>
              </a:lnSpc>
              <a:spcBef>
                <a:spcPts val="95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nine PBL phases completed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Honest Caveats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1h/2h lags, the gain falls to 13.9%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under-predicts the sharpest demand peaks</a:t>
            </a:r>
          </a:p>
          <a:p>
            <a:pPr lvl="0">
              <a:lnSpc>
                <a:spcPct val="106000"/>
              </a:lnSpc>
              <a:spcBef>
                <a:spcPts val="14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site, ≈3.5 months — not yet generalisable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 w="12700">
            <a:solidFill>
              <a:srgbClr val="1F3864"/>
            </a:solidFill>
          </a:ln>
        </p:spPr>
        <p:txBody>
          <a:bodyPr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&amp; Data</a:t>
            </a:r>
          </a:p>
          <a:p>
            <a:pPr marL="0" indent="0" algn="just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Caltech ACN-Data: ev.caltech.edu/acndata      ·      GitHub: Praveen-Vignesh/EV-Charging-station-demand-prediction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14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October 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Data, Baseline &amp; Theory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Lee, Li &amp; Low, ACN-Data (e-Energy ’19)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Caltech, ACN-Data public API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Hyndman &amp; Athanasopoulos, Forecasting (2021)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Hastie et al., Elements of Statistical Learning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Breiman, Random Forests (2001)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Hyndman &amp; Koehler, Forecast Accuracy (2006)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Pedregosa et al., scikit-learn (2011)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scikit-learn: RandomForestRegressor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scikit-learn: LinearRegression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pandas development team, pandas docs</a:t>
            </a:r>
          </a:p>
          <a:p>
            <a:pPr lvl="0">
              <a:lnSpc>
                <a:spcPct val="106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Hunter, Matplotlib (2007)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